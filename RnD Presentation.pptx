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755916c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755916c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7b062232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7b062232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7b06223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7b06223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7b062232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7b062232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"Let's look at the high level application workflow.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The Trigger:</a:t>
            </a:r>
            <a:r>
              <a:rPr lang="en-GB">
                <a:solidFill>
                  <a:schemeClr val="dk1"/>
                </a:solidFill>
              </a:rPr>
              <a:t> The workflow begins when our PhoneCallReceiver detects the phone state changing to IDLE.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The Action:</a:t>
            </a:r>
            <a:r>
              <a:rPr lang="en-GB">
                <a:solidFill>
                  <a:schemeClr val="dk1"/>
                </a:solidFill>
              </a:rPr>
              <a:t> This triggers the OverlayService, which draws this form you see on the screen directly over the Android launcher.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The Input:</a:t>
            </a:r>
            <a:r>
              <a:rPr lang="en-GB">
                <a:solidFill>
                  <a:schemeClr val="dk1"/>
                </a:solidFill>
              </a:rPr>
              <a:t> The user can quickly provide three data points: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A Quality Rating (Good/Fair/Poor).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Specific Issues (like Background Noise or Echo).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Context (Are they Indoor, Outdoor, or in a Vehicle?)."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7b062232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7b062232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Here is the technical flow of a single feedback loop: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Permission Setup:</a:t>
            </a:r>
            <a:r>
              <a:rPr lang="en-GB">
                <a:solidFill>
                  <a:schemeClr val="dk1"/>
                </a:solidFill>
              </a:rPr>
              <a:t> First, the user grants the special 'Draw over other apps' permission.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Call Detection:</a:t>
            </a:r>
            <a:r>
              <a:rPr lang="en-GB">
                <a:solidFill>
                  <a:schemeClr val="dk1"/>
                </a:solidFill>
              </a:rPr>
              <a:t> The BroadcastReceiver listens for PHONE_STATE changes.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Service Trigger:</a:t>
            </a:r>
            <a:r>
              <a:rPr lang="en-GB">
                <a:solidFill>
                  <a:schemeClr val="dk1"/>
                </a:solidFill>
              </a:rPr>
              <a:t> Once the call disconnects, the Receiver starts the Overlay Service.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Display:</a:t>
            </a:r>
            <a:r>
              <a:rPr lang="en-GB">
                <a:solidFill>
                  <a:schemeClr val="dk1"/>
                </a:solidFill>
              </a:rPr>
              <a:t> The View is displayed using the WindowManager.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Submission:</a:t>
            </a:r>
            <a:r>
              <a:rPr lang="en-GB">
                <a:solidFill>
                  <a:schemeClr val="dk1"/>
                </a:solidFill>
              </a:rPr>
              <a:t> When the user clicks 'Submit', the data is saved locally via FormLocalSaver and simultaneously POSTed to the backend via ServerPoster."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7b062232f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7b062232f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Our system architecture is divided into four modular components: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Event Module:</a:t>
            </a:r>
            <a:r>
              <a:rPr lang="en-GB">
                <a:solidFill>
                  <a:schemeClr val="dk1"/>
                </a:solidFill>
              </a:rPr>
              <a:t> The BroadcastReceiver acting as the trigger.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UI Module:</a:t>
            </a:r>
            <a:r>
              <a:rPr lang="en-GB">
                <a:solidFill>
                  <a:schemeClr val="dk1"/>
                </a:solidFill>
              </a:rPr>
              <a:t> The Background Service handling the TYPE_APPLICATION_OVERLAY.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Data Module:</a:t>
            </a:r>
            <a:r>
              <a:rPr lang="en-GB">
                <a:solidFill>
                  <a:schemeClr val="dk1"/>
                </a:solidFill>
              </a:rPr>
              <a:t> This is crucial—it queries the TelephonyManager for Signal Strength and FusedLocationProvider for GPS coordinates.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Backend Module:</a:t>
            </a:r>
            <a:r>
              <a:rPr lang="en-GB">
                <a:solidFill>
                  <a:schemeClr val="dk1"/>
                </a:solidFill>
              </a:rPr>
              <a:t> A Python Flask server that digests the JSON payloads."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7b062232f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7b062232f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7b062232f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7b062232f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7755916c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7755916c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7755916c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7755916c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Here is a snippet of our core detection logic.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You can see the onReceive method checking for TelephonyManager.EXTRA_STATE. When it equals EXTRA_STATE_IDLE 12, it checks for overlay permissions and immediately starts the OverlayService13. This ensures the app runs in the background with minimal resource usage."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7755916c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7755916c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7755916c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7755916c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7755916c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7755916c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"Our testing yielded positive results: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We achieved successful </a:t>
            </a:r>
            <a:r>
              <a:rPr b="1" lang="en-GB">
                <a:solidFill>
                  <a:schemeClr val="dk1"/>
                </a:solidFill>
              </a:rPr>
              <a:t>End-of-Call detection</a:t>
            </a:r>
            <a:r>
              <a:rPr lang="en-GB">
                <a:solidFill>
                  <a:schemeClr val="dk1"/>
                </a:solidFill>
              </a:rPr>
              <a:t> across multiple test devices.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overlay appears consistently without delay.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Most importantly, the data logs show meaningful variation, successfully capturing the correlation between signal strength and user ratings."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7755916c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7755916c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b062232f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7b062232f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For future work, we propose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Visualize Data:</a:t>
            </a:r>
            <a:r>
              <a:rPr lang="en-GB">
                <a:solidFill>
                  <a:schemeClr val="dk1"/>
                </a:solidFill>
              </a:rPr>
              <a:t> Build a web dashboard to plot these coordinates as </a:t>
            </a:r>
            <a:r>
              <a:rPr b="1" lang="en-GB">
                <a:solidFill>
                  <a:schemeClr val="dk1"/>
                </a:solidFill>
              </a:rPr>
              <a:t>Heatmaps</a:t>
            </a:r>
            <a:r>
              <a:rPr lang="en-GB">
                <a:solidFill>
                  <a:schemeClr val="dk1"/>
                </a:solidFill>
              </a:rPr>
              <a:t> to visualize dead zones.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Predictive AI:</a:t>
            </a:r>
            <a:r>
              <a:rPr lang="en-GB">
                <a:solidFill>
                  <a:schemeClr val="dk1"/>
                </a:solidFill>
              </a:rPr>
              <a:t> Train ML models to predict call drops based on signal trends.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iOS Adaptation:</a:t>
            </a:r>
            <a:r>
              <a:rPr lang="en-GB">
                <a:solidFill>
                  <a:schemeClr val="dk1"/>
                </a:solidFill>
              </a:rPr>
              <a:t> Investigate push notifications for iPhones since they don't support overlays.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Cloud Migration:</a:t>
            </a:r>
            <a:r>
              <a:rPr lang="en-GB">
                <a:solidFill>
                  <a:schemeClr val="dk1"/>
                </a:solidFill>
              </a:rPr>
              <a:t> Move from local JSON files to a scalable cloud database like Firebase or AWS."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7755916c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7755916c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575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CS490 </a:t>
            </a:r>
            <a:r>
              <a:rPr lang="en-GB" sz="3600"/>
              <a:t>RnD Presentation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426075"/>
            <a:ext cx="8520600" cy="3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Group Members: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Charishma Varala - 23B0984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Gunda Sushanth - 23B1063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Guide: Prof. Bhaskaran Raman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00650" y="239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Problem: </a:t>
            </a:r>
            <a:r>
              <a:rPr b="1" lang="en-GB">
                <a:solidFill>
                  <a:srgbClr val="2C363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App to quantify poor cellular calls</a:t>
            </a:r>
            <a:endParaRPr b="1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99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The Gap:</a:t>
            </a:r>
            <a:r>
              <a:rPr lang="en-GB" sz="1600">
                <a:solidFill>
                  <a:schemeClr val="dk1"/>
                </a:solidFill>
              </a:rPr>
              <a:t> Cellular operators collect technical metrics, but lack data on "Quality of Experience" (QoE) from the user’s perspective (e.g., "I couldn't hear the other person").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The Contrast:</a:t>
            </a:r>
            <a:r>
              <a:rPr lang="en-GB" sz="1600">
                <a:solidFill>
                  <a:schemeClr val="dk1"/>
                </a:solidFill>
              </a:rPr>
              <a:t> VoIP apps (WhatsApp, Zoom) have built-in feedback loops; standard cellular telephony does not.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The Need:</a:t>
            </a:r>
            <a:r>
              <a:rPr lang="en-GB" sz="1600">
                <a:solidFill>
                  <a:schemeClr val="dk1"/>
                </a:solidFill>
              </a:rPr>
              <a:t> A mechanism to correlate subjective user feedback (Audio Quality) with objective network stats (Signal Strength) to identify "Dead Zones."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9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Proposed Solution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51075"/>
            <a:ext cx="8520600" cy="3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The project aims to build an Android app that captures user feedback after calls and uploads it anonymously to a server.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Automated Detection:</a:t>
            </a:r>
            <a:r>
              <a:rPr lang="en-GB" sz="1600">
                <a:solidFill>
                  <a:schemeClr val="dk1"/>
                </a:solidFill>
              </a:rPr>
              <a:t> An Android system that detects call termination without manual intervention.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Non-Intrusive UI:</a:t>
            </a:r>
            <a:r>
              <a:rPr lang="en-GB" sz="1600">
                <a:solidFill>
                  <a:schemeClr val="dk1"/>
                </a:solidFill>
              </a:rPr>
              <a:t> A floating "System Alert Window" overlay that gathers feedback immediately while the context is fresh.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Full-Stack Architecture:</a:t>
            </a:r>
            <a:r>
              <a:rPr lang="en-GB" sz="1600">
                <a:solidFill>
                  <a:schemeClr val="dk1"/>
                </a:solidFill>
              </a:rPr>
              <a:t> A dedicated Android Client and a Python Flask Backend for data aggregation.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Key Features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31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Automatic detection of call end events.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Floating overlay for quick, frictionless feedback.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Rating system + detailed audio/environment issue selection.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Secure network communication with configurable server IP.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High usability design with minimal user interaction required.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1409775" y="453575"/>
            <a:ext cx="524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Application Workflow (UI)</a:t>
            </a:r>
            <a:endParaRPr b="1" sz="17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63725" y="1260575"/>
            <a:ext cx="5169000" cy="3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Trigger:</a:t>
            </a:r>
            <a:r>
              <a:rPr lang="en-GB" sz="1600">
                <a:solidFill>
                  <a:schemeClr val="dk1"/>
                </a:solidFill>
              </a:rPr>
              <a:t>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PhoneCallReceiver</a:t>
            </a:r>
            <a:r>
              <a:rPr lang="en-GB" sz="1600">
                <a:solidFill>
                  <a:schemeClr val="dk1"/>
                </a:solidFill>
              </a:rPr>
              <a:t> detects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IDLE</a:t>
            </a:r>
            <a:r>
              <a:rPr lang="en-GB" sz="1600">
                <a:solidFill>
                  <a:schemeClr val="dk1"/>
                </a:solidFill>
              </a:rPr>
              <a:t> state (Call Ended).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Action:</a:t>
            </a:r>
            <a:r>
              <a:rPr lang="en-GB" sz="1600">
                <a:solidFill>
                  <a:schemeClr val="dk1"/>
                </a:solidFill>
              </a:rPr>
              <a:t> Launches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OverlayService</a:t>
            </a:r>
            <a:r>
              <a:rPr lang="en-GB" sz="1600">
                <a:solidFill>
                  <a:schemeClr val="dk1"/>
                </a:solidFill>
              </a:rPr>
              <a:t> to draw over the home screen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Input:</a:t>
            </a:r>
            <a:r>
              <a:rPr lang="en-GB" sz="1600">
                <a:solidFill>
                  <a:schemeClr val="dk1"/>
                </a:solidFill>
              </a:rPr>
              <a:t> User selects:</a:t>
            </a:r>
            <a:endParaRPr sz="16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b="1" lang="en-GB" sz="1300">
                <a:solidFill>
                  <a:schemeClr val="dk1"/>
                </a:solidFill>
              </a:rPr>
              <a:t>Rating:</a:t>
            </a:r>
            <a:r>
              <a:rPr lang="en-GB" sz="1300">
                <a:solidFill>
                  <a:schemeClr val="dk1"/>
                </a:solidFill>
              </a:rPr>
              <a:t> Good / Fair / Poor.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b="1" lang="en-GB" sz="1300">
                <a:solidFill>
                  <a:schemeClr val="dk1"/>
                </a:solidFill>
              </a:rPr>
              <a:t>Issues:</a:t>
            </a:r>
            <a:r>
              <a:rPr lang="en-GB" sz="1300">
                <a:solidFill>
                  <a:schemeClr val="dk1"/>
                </a:solidFill>
              </a:rPr>
              <a:t> Echo, Background Noise, Dropped Call.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b="1" lang="en-GB" sz="1300">
                <a:solidFill>
                  <a:schemeClr val="dk1"/>
                </a:solidFill>
              </a:rPr>
              <a:t>Context:</a:t>
            </a:r>
            <a:r>
              <a:rPr lang="en-GB" sz="1300">
                <a:solidFill>
                  <a:schemeClr val="dk1"/>
                </a:solidFill>
              </a:rPr>
              <a:t> Indoor / Outdoor / In-Vehicle.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-GB" sz="1300">
                <a:solidFill>
                  <a:schemeClr val="dk1"/>
                </a:solidFill>
              </a:rPr>
              <a:t>Comments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80" name="Google Shape;80;p17" title="Screenshot 2025-11-20 at 11.43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997" y="291225"/>
            <a:ext cx="1082950" cy="96935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6134063" y="3929500"/>
            <a:ext cx="227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2"/>
                </a:solidFill>
              </a:rPr>
              <a:t>UI/UX to be updated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82" name="Google Shape;82;p17" title="Screenshot 2025-11-21 at 9.21.3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737" y="1733450"/>
            <a:ext cx="3475476" cy="199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171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/>
              <a:t>Technical </a:t>
            </a:r>
            <a:r>
              <a:rPr b="1" lang="en-GB"/>
              <a:t>Flow</a:t>
            </a:r>
            <a:endParaRPr b="1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058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Overlay Permission Setup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: The user uses MainActivity to navigate to OverlayPermissionActivity and grant the Draw over other apps (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SYSTEM_ALERT_WINDOW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) permission.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Call Detection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: PhoneCallReceiver (a BroadcastReceiver listening to 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android.intent.action.PHONE_STATE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) detects the transition from an active call state to a disconnected state.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Service Trigge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r</a:t>
            </a: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: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 The PhoneCallReceiver starts the OverlayService.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Overlay Display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: OverlayService inflates the UI defined in 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overlay_feedback.xml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 and displays it using the Android WindowManager.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  <a:highlight>
                  <a:schemeClr val="lt1"/>
                </a:highlight>
              </a:rPr>
              <a:t>Data Submission</a:t>
            </a:r>
            <a:r>
              <a:rPr lang="en-GB" sz="1400">
                <a:solidFill>
                  <a:schemeClr val="dk1"/>
                </a:solidFill>
                <a:highlight>
                  <a:schemeClr val="lt1"/>
                </a:highlight>
              </a:rPr>
              <a:t>: Upon clicking the "Submit" button:</a:t>
            </a:r>
            <a:endParaRPr sz="14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FormLocalSaver</a:t>
            </a: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 handles local storage (e.g., for retry logic).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ServerPoster</a:t>
            </a: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 packages the data into a JSON payload and sends an HTTP POST request to the backend.</a:t>
            </a: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29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System Architecture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263550"/>
            <a:ext cx="826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Event Module:</a:t>
            </a:r>
            <a:r>
              <a:rPr lang="en-GB" sz="1600">
                <a:solidFill>
                  <a:schemeClr val="dk1"/>
                </a:solidFill>
              </a:rPr>
              <a:t>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BroadcastReceiver</a:t>
            </a:r>
            <a:r>
              <a:rPr lang="en-GB" sz="1600">
                <a:solidFill>
                  <a:schemeClr val="dk1"/>
                </a:solidFill>
              </a:rPr>
              <a:t> listens for</a:t>
            </a:r>
            <a:r>
              <a:rPr lang="en-GB" sz="1600">
                <a:solidFill>
                  <a:schemeClr val="dk1"/>
                </a:solidFill>
              </a:rPr>
              <a:t>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android.intent.action.PHONE_STATE</a:t>
            </a:r>
            <a:r>
              <a:rPr lang="en-GB" sz="1600">
                <a:solidFill>
                  <a:schemeClr val="dk1"/>
                </a:solidFill>
              </a:rPr>
              <a:t>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UI Module:</a:t>
            </a:r>
            <a:r>
              <a:rPr lang="en-GB" sz="1600">
                <a:solidFill>
                  <a:schemeClr val="dk1"/>
                </a:solidFill>
              </a:rPr>
              <a:t> Background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Service</a:t>
            </a:r>
            <a:r>
              <a:rPr lang="en-GB" sz="1600">
                <a:solidFill>
                  <a:schemeClr val="dk1"/>
                </a:solidFill>
              </a:rPr>
              <a:t> utilizing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WindowManager</a:t>
            </a:r>
            <a:r>
              <a:rPr lang="en-GB" sz="1600">
                <a:solidFill>
                  <a:schemeClr val="dk1"/>
                </a:solidFill>
              </a:rPr>
              <a:t> and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TYPE_APPLICATION_OVERLAY</a:t>
            </a:r>
            <a:r>
              <a:rPr lang="en-GB" sz="1600">
                <a:solidFill>
                  <a:schemeClr val="dk1"/>
                </a:solidFill>
              </a:rPr>
              <a:t> permission.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Data Module:</a:t>
            </a:r>
            <a:r>
              <a:rPr lang="en-GB" sz="1600">
                <a:solidFill>
                  <a:schemeClr val="dk1"/>
                </a:solidFill>
              </a:rPr>
              <a:t> Queries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TelephonyManager</a:t>
            </a:r>
            <a:r>
              <a:rPr lang="en-GB" sz="1600">
                <a:solidFill>
                  <a:schemeClr val="dk1"/>
                </a:solidFill>
              </a:rPr>
              <a:t> (Signal) and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FusedLocationProvider</a:t>
            </a:r>
            <a:r>
              <a:rPr lang="en-GB" sz="1600">
                <a:solidFill>
                  <a:schemeClr val="dk1"/>
                </a:solidFill>
              </a:rPr>
              <a:t> (GPS).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Backend Module:</a:t>
            </a:r>
            <a:r>
              <a:rPr lang="en-GB" sz="1600">
                <a:solidFill>
                  <a:schemeClr val="dk1"/>
                </a:solidFill>
              </a:rPr>
              <a:t> Python Flask server listening for JSON payloads.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29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Data Collection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2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Subjective Data (User Input):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Call Quality Rating (1-3 scale).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Specific Audio Artifacts (Choppy, One-way Audio).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Physical Environment (Indoor/Outdoor).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Additional Comments.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</a:rPr>
              <a:t>Objective Data (Sensor Readings):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Signal Strength:</a:t>
            </a:r>
            <a:r>
              <a:rPr lang="en-GB" sz="1400">
                <a:solidFill>
                  <a:schemeClr val="dk1"/>
                </a:solidFill>
              </a:rPr>
              <a:t> Measured in dBm 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Network Type:</a:t>
            </a:r>
            <a:r>
              <a:rPr lang="en-GB" sz="1400">
                <a:solidFill>
                  <a:schemeClr val="dk1"/>
                </a:solidFill>
              </a:rPr>
              <a:t> WiFi, LTE (4G), or NR (5G).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Location:</a:t>
            </a:r>
            <a:r>
              <a:rPr lang="en-GB" sz="1400">
                <a:solidFill>
                  <a:schemeClr val="dk1"/>
                </a:solidFill>
              </a:rPr>
              <a:t> Latitude/Longitude via Google Play Services.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Timestamp:</a:t>
            </a:r>
            <a:r>
              <a:rPr lang="en-GB" sz="1400">
                <a:solidFill>
                  <a:schemeClr val="dk1"/>
                </a:solidFill>
              </a:rPr>
              <a:t> Unix epoch time for temporal analysis.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29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Permissions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2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450">
                <a:solidFill>
                  <a:srgbClr val="18803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READ_PHONE_STATE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</a:rPr>
              <a:t>Mandatory for detecting call state changes.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450">
                <a:solidFill>
                  <a:srgbClr val="18803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SYSTEM_ALERT_WINDOW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</a:rPr>
              <a:t>Mandatory for drawing the overlay UI over other apps.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450">
                <a:solidFill>
                  <a:srgbClr val="18803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INTERNET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</a:rPr>
              <a:t>Required to post feedback data to the backend server.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450">
                <a:solidFill>
                  <a:srgbClr val="18803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ACCESS_NETWORK_STATE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</a:rPr>
              <a:t>Recommended for checking network availability before posting.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450">
                <a:solidFill>
                  <a:srgbClr val="18803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ACCESS_COARSE_LOCATION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</a:rPr>
              <a:t>Captures approximate device location for feedback metadata.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450">
                <a:solidFill>
                  <a:srgbClr val="18803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ACCESS_FINE_LOCATION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</a:rPr>
              <a:t>Captures precise location metadata during feedback.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2067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b="1" lang="en-GB" sz="1450">
                <a:solidFill>
                  <a:srgbClr val="18803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ACCESS_BACKGROUND_LOCATION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GB" sz="1450">
                <a:solidFill>
                  <a:schemeClr val="dk1"/>
                </a:solidFill>
                <a:highlight>
                  <a:schemeClr val="lt1"/>
                </a:highlight>
              </a:rPr>
              <a:t>Needed if location is captured when the app is in background.</a:t>
            </a:r>
            <a:endParaRPr sz="14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29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Backend Implementation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2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700">
                <a:solidFill>
                  <a:schemeClr val="dk1"/>
                </a:solidFill>
              </a:rPr>
              <a:t>Server Tech:</a:t>
            </a:r>
            <a:r>
              <a:rPr lang="en-GB" sz="1700">
                <a:solidFill>
                  <a:schemeClr val="dk1"/>
                </a:solidFill>
              </a:rPr>
              <a:t> Python Flask running on local network IP (</a:t>
            </a:r>
            <a:r>
              <a:rPr lang="en-GB" sz="1700">
                <a:solidFill>
                  <a:srgbClr val="188038"/>
                </a:solidFill>
              </a:rPr>
              <a:t>0.0.0.0</a:t>
            </a:r>
            <a:r>
              <a:rPr lang="en-GB" sz="1700">
                <a:solidFill>
                  <a:schemeClr val="dk1"/>
                </a:solidFill>
              </a:rPr>
              <a:t> binding).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700">
                <a:solidFill>
                  <a:schemeClr val="dk1"/>
                </a:solidFill>
              </a:rPr>
              <a:t>Data Persistence:</a:t>
            </a:r>
            <a:r>
              <a:rPr lang="en-GB" sz="1700">
                <a:solidFill>
                  <a:schemeClr val="dk1"/>
                </a:solidFill>
              </a:rPr>
              <a:t> Uses </a:t>
            </a:r>
            <a:r>
              <a:rPr b="1" lang="en-GB" sz="1700">
                <a:solidFill>
                  <a:schemeClr val="dk1"/>
                </a:solidFill>
              </a:rPr>
              <a:t>JSON Lines (.jsonl)</a:t>
            </a:r>
            <a:r>
              <a:rPr lang="en-GB" sz="1700">
                <a:solidFill>
                  <a:schemeClr val="dk1"/>
                </a:solidFill>
              </a:rPr>
              <a:t> format.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High-performance append operations (O(1)) and robust against corruption compared to complex databases.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API Endpoint:</a:t>
            </a:r>
            <a:r>
              <a:rPr lang="en-GB" sz="1600">
                <a:solidFill>
                  <a:schemeClr val="dk1"/>
                </a:solidFill>
              </a:rPr>
              <a:t> RESTful </a:t>
            </a:r>
            <a:r>
              <a:rPr lang="en-GB" sz="1600">
                <a:solidFill>
                  <a:srgbClr val="188038"/>
                </a:solidFill>
              </a:rPr>
              <a:t>/feedback</a:t>
            </a:r>
            <a:r>
              <a:rPr lang="en-GB" sz="1600">
                <a:solidFill>
                  <a:schemeClr val="dk1"/>
                </a:solidFill>
              </a:rPr>
              <a:t> route handling HTTP POST requests with error handling for malformed payloads.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299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Broadcast Receiver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118225" y="1314825"/>
            <a:ext cx="515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600">
                <a:solidFill>
                  <a:schemeClr val="dk1"/>
                </a:solidFill>
              </a:rPr>
              <a:t>Listens for phone call state changes using Android’s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TelephonyManager</a:t>
            </a:r>
            <a:r>
              <a:rPr lang="en-GB" sz="1600">
                <a:solidFill>
                  <a:schemeClr val="dk1"/>
                </a:solidFill>
              </a:rPr>
              <a:t>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600">
                <a:solidFill>
                  <a:schemeClr val="dk1"/>
                </a:solidFill>
              </a:rPr>
              <a:t>Detects when a call starts, ends, or changes state.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600">
                <a:solidFill>
                  <a:schemeClr val="dk1"/>
                </a:solidFill>
              </a:rPr>
              <a:t>Triggers the overlay feedback form immediately after the call ends.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600">
                <a:solidFill>
                  <a:schemeClr val="dk1"/>
                </a:solidFill>
              </a:rPr>
              <a:t>Runs in the background with minimal resource usage.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600">
                <a:solidFill>
                  <a:schemeClr val="dk1"/>
                </a:solidFill>
              </a:rPr>
              <a:t>Acts as the event entry point for the entire feedback workflow.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9" name="Google Shape;119;p23" title="Screenshot 2025-11-21 at 9.18.4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625" y="1314825"/>
            <a:ext cx="3765699" cy="2169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397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Server Side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314825"/>
            <a:ext cx="477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Lightweight Python HTTP server that receives POST requests from the app.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Stores each feedback entry in a JSON Lines (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.jsonl</a:t>
            </a:r>
            <a:r>
              <a:rPr lang="en-GB" sz="1600">
                <a:solidFill>
                  <a:schemeClr val="dk1"/>
                </a:solidFill>
              </a:rPr>
              <a:t>) file for analysis.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Operates anonymously — no personal data or identifiers captured.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Enables future data processing, analytics, and visualization.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26" name="Google Shape;126;p24" title="Screenshot 2025-11-21 at 9.23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225" y="1566600"/>
            <a:ext cx="3751799" cy="2421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Technology Stack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3100"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Android (Java):</a:t>
            </a:r>
            <a:r>
              <a:rPr lang="en-GB" sz="1600">
                <a:solidFill>
                  <a:schemeClr val="dk1"/>
                </a:solidFill>
              </a:rPr>
              <a:t> Main development platform.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System Services:</a:t>
            </a:r>
            <a:r>
              <a:rPr lang="en-GB" sz="1600">
                <a:solidFill>
                  <a:schemeClr val="dk1"/>
                </a:solidFill>
              </a:rPr>
              <a:t> TelephonyManager, BroadcastReceiver, Overlay Service.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UI:</a:t>
            </a:r>
            <a:r>
              <a:rPr lang="en-GB" sz="1600">
                <a:solidFill>
                  <a:schemeClr val="dk1"/>
                </a:solidFill>
              </a:rPr>
              <a:t> XML-based layouts for launcher and feedback screens.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Networking:</a:t>
            </a:r>
            <a:r>
              <a:rPr lang="en-GB" sz="1600">
                <a:solidFill>
                  <a:schemeClr val="dk1"/>
                </a:solidFill>
              </a:rPr>
              <a:t> HTTP POST requests using Java networking libraries.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Backend:</a:t>
            </a:r>
            <a:r>
              <a:rPr lang="en-GB" sz="1600">
                <a:solidFill>
                  <a:schemeClr val="dk1"/>
                </a:solidFill>
              </a:rPr>
              <a:t> Python Flask/HTTP server logging data into JSONL.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Observations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3100"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281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Successful end-of-call detection across test devices.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Overlay consistently appears without delays or interruptions.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700">
                <a:solidFill>
                  <a:schemeClr val="dk1"/>
                </a:solidFill>
              </a:rPr>
              <a:t>Feedback successfully posted to local Python server.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Implementation Challenges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3100"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2550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Handling phone state permissions on modern Android versions.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Overlay permission requirements and UI rendering over other apps.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Cleartext HTTP restrictions requiring network security configuration.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Ensuring overlay does not conflict with system UI or accessibility settings.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29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Future Scope</a:t>
            </a:r>
            <a:endParaRPr b="1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2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Move backend to cloud with database support (Firebase / AWS / Supabase).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Data Visualization:</a:t>
            </a:r>
            <a:r>
              <a:rPr lang="en-GB" sz="1600">
                <a:solidFill>
                  <a:schemeClr val="dk1"/>
                </a:solidFill>
              </a:rPr>
              <a:t> Build a web dashboard to plot feedback coordinates on a map to visualize dead zones.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iOS Adaptation:</a:t>
            </a:r>
            <a:r>
              <a:rPr lang="en-GB" sz="1600">
                <a:solidFill>
                  <a:schemeClr val="dk1"/>
                </a:solidFill>
              </a:rPr>
              <a:t> Investigate Push Notifications to trigger feedback on iPhones (due to lack of Overlay support).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Predictive AI:</a:t>
            </a:r>
            <a:r>
              <a:rPr lang="en-GB" sz="1600">
                <a:solidFill>
                  <a:schemeClr val="dk1"/>
                </a:solidFill>
              </a:rPr>
              <a:t> Train ML models on the server to predict "Call Drop Probability" based on signal trends.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1521900" y="1999200"/>
            <a:ext cx="6100200" cy="11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5600">
                <a:solidFill>
                  <a:schemeClr val="dk1"/>
                </a:solidFill>
              </a:rPr>
              <a:t>THANK YOU !</a:t>
            </a:r>
            <a:endParaRPr sz="5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